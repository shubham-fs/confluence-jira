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2" r:id="rId5"/>
    <p:sldId id="271" r:id="rId6"/>
    <p:sldId id="264" r:id="rId7"/>
    <p:sldId id="261" r:id="rId8"/>
    <p:sldId id="260" r:id="rId9"/>
    <p:sldId id="266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94660"/>
  </p:normalViewPr>
  <p:slideViewPr>
    <p:cSldViewPr snapToGrid="0" snapToObjects="1">
      <p:cViewPr>
        <p:scale>
          <a:sx n="102" d="100"/>
          <a:sy n="102" d="100"/>
        </p:scale>
        <p:origin x="872" y="9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D6665-6475-6749-BDF0-A5480719017D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F0A3E-2CE6-0E4A-B8F6-F27513833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77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F0A3E-2CE6-0E4A-B8F6-F275138331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62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0" y="914400"/>
            <a:ext cx="44348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78040" y="1170432"/>
            <a:ext cx="150876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23759" y="1243584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Confluence Teams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2057400"/>
            <a:ext cx="3520440" cy="731520"/>
          </a:xfrm>
          <a:prstGeom prst="roundRect">
            <a:avLst/>
          </a:prstGeom>
          <a:solidFill>
            <a:srgbClr val="232F4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80960" y="2313432"/>
            <a:ext cx="1508760" cy="34747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80" y="2386584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Jira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2971800"/>
            <a:ext cx="4160520" cy="1005840"/>
          </a:xfrm>
          <a:prstGeom prst="roundRect">
            <a:avLst/>
          </a:prstGeom>
          <a:solidFill>
            <a:srgbClr val="28354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60920" y="3227832"/>
            <a:ext cx="150876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3300984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AI to JQL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4343400"/>
            <a:ext cx="2971800" cy="640080"/>
          </a:xfrm>
          <a:prstGeom prst="roundRect">
            <a:avLst/>
          </a:prstGeom>
          <a:solidFill>
            <a:srgbClr val="2D3B5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69579" y="4480560"/>
            <a:ext cx="1508760" cy="3474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69579" y="4581144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Excel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" y="548640"/>
            <a:ext cx="5394960" cy="7540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4300" b="1" dirty="0">
                <a:solidFill>
                  <a:srgbClr val="FFFFFF"/>
                </a:solidFill>
                <a:latin typeface="Aptos Display"/>
              </a:rPr>
              <a:t>Jira </a:t>
            </a:r>
            <a:r>
              <a:rPr sz="4300" b="1" dirty="0">
                <a:solidFill>
                  <a:srgbClr val="FFFFFF"/>
                </a:solidFill>
                <a:latin typeface="Aptos Display"/>
              </a:rPr>
              <a:t>Developer Activity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" y="1540651"/>
            <a:ext cx="5166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CBD5E1"/>
                </a:solidFill>
                <a:latin typeface="Aptos"/>
              </a:rPr>
              <a:t>Turning Jira and Confluence into an engineering intelligence layer.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9328" y="2519059"/>
            <a:ext cx="123444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5048" y="2592211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Jira Cloud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0072" y="2519059"/>
            <a:ext cx="1691640" cy="34747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45792" y="2592211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Confluence 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47160" y="2519059"/>
            <a:ext cx="100584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92880" y="2592211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Groq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dirty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510528"/>
            <a:ext cx="98755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97065C-7BC5-F8CE-82BD-EB87A34AFBE6}"/>
              </a:ext>
            </a:extLst>
          </p:cNvPr>
          <p:cNvSpPr txBox="1"/>
          <p:nvPr/>
        </p:nvSpPr>
        <p:spPr>
          <a:xfrm>
            <a:off x="765048" y="4343400"/>
            <a:ext cx="33889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Prepared by</a:t>
            </a:r>
            <a:r>
              <a:rPr lang="en-US" dirty="0">
                <a:solidFill>
                  <a:schemeClr val="bg1"/>
                </a:solidFill>
              </a:rPr>
              <a:t> : Team ASK-Y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Yash Gupta</a:t>
            </a:r>
          </a:p>
          <a:p>
            <a:r>
              <a:rPr lang="en-US" dirty="0">
                <a:solidFill>
                  <a:schemeClr val="bg1"/>
                </a:solidFill>
              </a:rPr>
              <a:t>Shubham Kumar</a:t>
            </a:r>
          </a:p>
          <a:p>
            <a:r>
              <a:rPr lang="en-US" dirty="0">
                <a:solidFill>
                  <a:schemeClr val="bg1"/>
                </a:solidFill>
              </a:rPr>
              <a:t>Arpita Priya</a:t>
            </a:r>
          </a:p>
          <a:p>
            <a:r>
              <a:rPr lang="en-US" dirty="0">
                <a:solidFill>
                  <a:schemeClr val="bg1"/>
                </a:solidFill>
              </a:rPr>
              <a:t>Kashish Roy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08E83A6-20BD-7C38-40DC-768BB98C8917}"/>
              </a:ext>
            </a:extLst>
          </p:cNvPr>
          <p:cNvSpPr/>
          <p:nvPr/>
        </p:nvSpPr>
        <p:spPr>
          <a:xfrm>
            <a:off x="7260147" y="5193792"/>
            <a:ext cx="3809472" cy="987664"/>
          </a:xfrm>
          <a:prstGeom prst="roundRect">
            <a:avLst/>
          </a:prstGeom>
          <a:solidFill>
            <a:srgbClr val="2D3B5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3135C70-FC52-C432-4AE5-5B818D5A8C4F}"/>
              </a:ext>
            </a:extLst>
          </p:cNvPr>
          <p:cNvSpPr/>
          <p:nvPr/>
        </p:nvSpPr>
        <p:spPr>
          <a:xfrm>
            <a:off x="7529102" y="5533152"/>
            <a:ext cx="150876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748948-C50F-BC76-CEF8-B36B09E1E19F}"/>
              </a:ext>
            </a:extLst>
          </p:cNvPr>
          <p:cNvSpPr txBox="1"/>
          <p:nvPr/>
        </p:nvSpPr>
        <p:spPr>
          <a:xfrm>
            <a:off x="7508927" y="5580073"/>
            <a:ext cx="1417319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ptos"/>
              </a:rPr>
              <a:t>Analytics</a:t>
            </a:r>
            <a:endParaRPr sz="900" b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MARKET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7863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 Display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07592"/>
            <a:ext cx="8595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475569"/>
                </a:solidFill>
                <a:latin typeface="Aptos"/>
              </a:rPr>
              <a:t>Engineering work is visible. Engineering history is hidden.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3063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8408" y="2258568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0412" y="2318004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153972"/>
            <a:ext cx="20848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0F172A"/>
                </a:solidFill>
                <a:latin typeface="Aptos"/>
              </a:rPr>
              <a:t>Scattered activity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679192"/>
            <a:ext cx="2084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Teams live in Confluence. Work lives in Jira. Context lives inside changelogs.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057400"/>
            <a:ext cx="3063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27448" y="2258568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9452" y="2318004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1313" y="2112264"/>
            <a:ext cx="20848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0F172A"/>
                </a:solidFill>
                <a:latin typeface="Aptos"/>
              </a:rPr>
              <a:t>Current state hides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679192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Jira fields show latest assignee/status, not past ownership or movement.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057400"/>
            <a:ext cx="3063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76488" y="2258568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8492" y="2318004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2153972"/>
            <a:ext cx="20848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0F172A"/>
                </a:solidFill>
                <a:latin typeface="Aptos"/>
              </a:rPr>
              <a:t>Manual reports are fragile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2679192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Managers inspect tickets, screenshots, history tabs, and spreadsheets.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913632" y="2542032"/>
            <a:ext cx="493776" cy="219456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7662672" y="2542032"/>
            <a:ext cx="493775" cy="219456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160520"/>
            <a:ext cx="10058400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u="sng" dirty="0">
                <a:solidFill>
                  <a:srgbClr val="0F172A"/>
                </a:solidFill>
                <a:latin typeface="Aptos Display"/>
              </a:rPr>
              <a:t>Result:</a:t>
            </a:r>
            <a:endParaRPr lang="en-US" sz="2200" b="1" u="sng" dirty="0">
              <a:solidFill>
                <a:srgbClr val="0F172A"/>
              </a:solidFill>
              <a:latin typeface="Aptos Display"/>
            </a:endParaRPr>
          </a:p>
          <a:p>
            <a:pPr algn="ctr"/>
            <a:r>
              <a:rPr sz="2200" b="1" dirty="0">
                <a:solidFill>
                  <a:srgbClr val="0F172A"/>
                </a:solidFill>
                <a:latin typeface="Aptos Display"/>
              </a:rPr>
              <a:t>slow reporting,</a:t>
            </a:r>
            <a:endParaRPr lang="en-US" sz="2200" b="1" dirty="0">
              <a:solidFill>
                <a:srgbClr val="0F172A"/>
              </a:solidFill>
              <a:latin typeface="Aptos Display"/>
            </a:endParaRPr>
          </a:p>
          <a:p>
            <a:pPr algn="ctr"/>
            <a:r>
              <a:rPr sz="2200" b="1" dirty="0">
                <a:solidFill>
                  <a:srgbClr val="0F172A"/>
                </a:solidFill>
                <a:latin typeface="Aptos Display"/>
              </a:rPr>
              <a:t>missed reassigned tickets,</a:t>
            </a:r>
            <a:endParaRPr lang="en-US" sz="2200" b="1" dirty="0">
              <a:solidFill>
                <a:srgbClr val="0F172A"/>
              </a:solidFill>
              <a:latin typeface="Aptos Display"/>
            </a:endParaRPr>
          </a:p>
          <a:p>
            <a:pPr algn="ctr"/>
            <a:r>
              <a:rPr sz="2200" b="1" dirty="0">
                <a:solidFill>
                  <a:srgbClr val="0F172A"/>
                </a:solidFill>
                <a:latin typeface="Aptos Display"/>
              </a:rPr>
              <a:t>and weak visibility into who did what.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510528"/>
            <a:ext cx="98755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7863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 Display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07592"/>
            <a:ext cx="8595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A focused reporting layer over Jira and Confluence.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057400"/>
            <a:ext cx="1600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6" name="Oval 5"/>
          <p:cNvSpPr/>
          <p:nvPr/>
        </p:nvSpPr>
        <p:spPr>
          <a:xfrm>
            <a:off x="950976" y="2258568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" name="TextBox 6"/>
          <p:cNvSpPr txBox="1"/>
          <p:nvPr/>
        </p:nvSpPr>
        <p:spPr>
          <a:xfrm>
            <a:off x="982980" y="2318004"/>
            <a:ext cx="347472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2267712"/>
            <a:ext cx="62179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Select team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2368296"/>
            <a:ext cx="402335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0" name="Rounded Rectangle 9"/>
          <p:cNvSpPr/>
          <p:nvPr/>
        </p:nvSpPr>
        <p:spPr>
          <a:xfrm>
            <a:off x="2898648" y="2057400"/>
            <a:ext cx="1600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" name="Oval 10"/>
          <p:cNvSpPr/>
          <p:nvPr/>
        </p:nvSpPr>
        <p:spPr>
          <a:xfrm>
            <a:off x="3099816" y="2258568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2" name="TextBox 11"/>
          <p:cNvSpPr txBox="1"/>
          <p:nvPr/>
        </p:nvSpPr>
        <p:spPr>
          <a:xfrm>
            <a:off x="3131820" y="2318004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2279642"/>
            <a:ext cx="726948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Choose member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72000" y="2368296"/>
            <a:ext cx="402335" cy="219456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5" name="Rounded Rectangle 14"/>
          <p:cNvSpPr/>
          <p:nvPr/>
        </p:nvSpPr>
        <p:spPr>
          <a:xfrm>
            <a:off x="5047488" y="2057400"/>
            <a:ext cx="1600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6" name="Oval 15"/>
          <p:cNvSpPr/>
          <p:nvPr/>
        </p:nvSpPr>
        <p:spPr>
          <a:xfrm>
            <a:off x="5248656" y="225856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7" name="TextBox 16"/>
          <p:cNvSpPr txBox="1"/>
          <p:nvPr/>
        </p:nvSpPr>
        <p:spPr>
          <a:xfrm>
            <a:off x="5280660" y="2318004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1587" y="2296264"/>
            <a:ext cx="906779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Analyze history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720840" y="2368296"/>
            <a:ext cx="402335" cy="219456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0" name="Rounded Rectangle 19"/>
          <p:cNvSpPr/>
          <p:nvPr/>
        </p:nvSpPr>
        <p:spPr>
          <a:xfrm>
            <a:off x="7196328" y="2057400"/>
            <a:ext cx="1600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1" name="Oval 20"/>
          <p:cNvSpPr/>
          <p:nvPr/>
        </p:nvSpPr>
        <p:spPr>
          <a:xfrm>
            <a:off x="7397496" y="225856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2" name="TextBox 21"/>
          <p:cNvSpPr txBox="1"/>
          <p:nvPr/>
        </p:nvSpPr>
        <p:spPr>
          <a:xfrm>
            <a:off x="7429500" y="2318004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6136" y="2267712"/>
            <a:ext cx="810767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Generate report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69680" y="2368296"/>
            <a:ext cx="402335" cy="219456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5" name="Rounded Rectangle 24"/>
          <p:cNvSpPr/>
          <p:nvPr/>
        </p:nvSpPr>
        <p:spPr>
          <a:xfrm>
            <a:off x="9345168" y="2057400"/>
            <a:ext cx="1600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6" name="Oval 25"/>
          <p:cNvSpPr/>
          <p:nvPr/>
        </p:nvSpPr>
        <p:spPr>
          <a:xfrm>
            <a:off x="9546336" y="2258568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7" name="TextBox 26"/>
          <p:cNvSpPr txBox="1"/>
          <p:nvPr/>
        </p:nvSpPr>
        <p:spPr>
          <a:xfrm>
            <a:off x="9578340" y="2318004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0593" y="2356920"/>
            <a:ext cx="621791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3738551"/>
            <a:ext cx="1014984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dirty="0">
                <a:solidFill>
                  <a:srgbClr val="0F172A"/>
                </a:solidFill>
                <a:latin typeface="Aptos Display"/>
              </a:rPr>
              <a:t>The product does not copy Jira history.</a:t>
            </a:r>
            <a:endParaRPr lang="en-US" sz="2200" b="1" dirty="0">
              <a:solidFill>
                <a:srgbClr val="0F172A"/>
              </a:solidFill>
              <a:latin typeface="Aptos Display"/>
            </a:endParaRPr>
          </a:p>
          <a:p>
            <a:pPr algn="ctr"/>
            <a:r>
              <a:rPr sz="2200" b="1" dirty="0">
                <a:solidFill>
                  <a:srgbClr val="0F172A"/>
                </a:solidFill>
                <a:latin typeface="Aptos Display"/>
              </a:rPr>
              <a:t>It reads live source-of-truth data and turns it into management-ready reports.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89204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563EB"/>
                </a:solidFill>
              </a:rPr>
              <a:t>●  </a:t>
            </a:r>
            <a:r>
              <a:rPr sz="1300">
                <a:solidFill>
                  <a:srgbClr val="475569"/>
                </a:solidFill>
                <a:latin typeface="Aptos"/>
              </a:rPr>
              <a:t>Assigned Issues: historical assignee WAS query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563EB"/>
                </a:solidFill>
              </a:rPr>
              <a:t>●  </a:t>
            </a:r>
            <a:r>
              <a:rPr sz="1300">
                <a:solidFill>
                  <a:srgbClr val="475569"/>
                </a:solidFill>
                <a:latin typeface="Aptos"/>
              </a:rPr>
              <a:t>Transitions: changelog replay + assignee-at-time reconstruction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563EB"/>
                </a:solidFill>
              </a:rPr>
              <a:t>●  </a:t>
            </a:r>
            <a:r>
              <a:rPr sz="1300">
                <a:solidFill>
                  <a:srgbClr val="475569"/>
                </a:solidFill>
                <a:latin typeface="Aptos"/>
              </a:rPr>
              <a:t>Advanced AI Search: visible, project-scoped executed JQL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dirty="0">
                <a:solidFill>
                  <a:srgbClr val="64748B"/>
                </a:solidFill>
                <a:latin typeface="Aptos"/>
              </a:rPr>
              <a:t>0</a:t>
            </a:r>
            <a:r>
              <a:rPr lang="en-US" sz="900" b="0" dirty="0">
                <a:solidFill>
                  <a:srgbClr val="64748B"/>
                </a:solidFill>
                <a:latin typeface="Aptos"/>
              </a:rPr>
              <a:t>3</a:t>
            </a:r>
            <a:endParaRPr sz="90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85800" y="6510528"/>
            <a:ext cx="98755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7863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 Display"/>
              </a:rPr>
              <a:t>Assigned Issues: Historical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07592"/>
            <a:ext cx="8595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The report uses Jira history, not just current fields.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600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" name="Oval 5"/>
          <p:cNvSpPr/>
          <p:nvPr/>
        </p:nvSpPr>
        <p:spPr>
          <a:xfrm>
            <a:off x="1024128" y="2304288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" name="TextBox 6"/>
          <p:cNvSpPr txBox="1"/>
          <p:nvPr/>
        </p:nvSpPr>
        <p:spPr>
          <a:xfrm>
            <a:off x="1056132" y="2363724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313432"/>
            <a:ext cx="803148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Member name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96312" y="2404872"/>
            <a:ext cx="356616" cy="21945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0" name="Rounded Rectangle 9"/>
          <p:cNvSpPr/>
          <p:nvPr/>
        </p:nvSpPr>
        <p:spPr>
          <a:xfrm>
            <a:off x="2926079" y="2103120"/>
            <a:ext cx="1600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1" name="Oval 10"/>
          <p:cNvSpPr/>
          <p:nvPr/>
        </p:nvSpPr>
        <p:spPr>
          <a:xfrm>
            <a:off x="3127248" y="2304288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2" name="TextBox 11"/>
          <p:cNvSpPr txBox="1"/>
          <p:nvPr/>
        </p:nvSpPr>
        <p:spPr>
          <a:xfrm>
            <a:off x="3159251" y="2363724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1306" y="2313432"/>
            <a:ext cx="882395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Resolve </a:t>
            </a:r>
            <a:r>
              <a:rPr sz="1050" b="1" dirty="0" err="1">
                <a:solidFill>
                  <a:srgbClr val="0F172A"/>
                </a:solidFill>
                <a:latin typeface="Aptos"/>
              </a:rPr>
              <a:t>accountId</a:t>
            </a:r>
            <a:endParaRPr sz="1050" b="1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599431" y="2404872"/>
            <a:ext cx="356615" cy="219456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5" name="Rounded Rectangle 14"/>
          <p:cNvSpPr/>
          <p:nvPr/>
        </p:nvSpPr>
        <p:spPr>
          <a:xfrm>
            <a:off x="5029200" y="2103120"/>
            <a:ext cx="1600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6" name="Oval 15"/>
          <p:cNvSpPr/>
          <p:nvPr/>
        </p:nvSpPr>
        <p:spPr>
          <a:xfrm>
            <a:off x="5230368" y="230428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7" name="TextBox 16"/>
          <p:cNvSpPr txBox="1"/>
          <p:nvPr/>
        </p:nvSpPr>
        <p:spPr>
          <a:xfrm>
            <a:off x="5262372" y="2363724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2313432"/>
            <a:ext cx="850391" cy="5770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JQL: assignee WAS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702552" y="2404872"/>
            <a:ext cx="356615" cy="219456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0" name="Rounded Rectangle 19"/>
          <p:cNvSpPr/>
          <p:nvPr/>
        </p:nvSpPr>
        <p:spPr>
          <a:xfrm>
            <a:off x="7132320" y="2103120"/>
            <a:ext cx="1600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1" name="Oval 20"/>
          <p:cNvSpPr/>
          <p:nvPr/>
        </p:nvSpPr>
        <p:spPr>
          <a:xfrm>
            <a:off x="7333488" y="2304288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2" name="TextBox 21"/>
          <p:cNvSpPr txBox="1"/>
          <p:nvPr/>
        </p:nvSpPr>
        <p:spPr>
          <a:xfrm>
            <a:off x="7365492" y="2363724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2313432"/>
            <a:ext cx="62179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Jira results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05672" y="2404872"/>
            <a:ext cx="356616" cy="219456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5" name="Rounded Rectangle 24"/>
          <p:cNvSpPr/>
          <p:nvPr/>
        </p:nvSpPr>
        <p:spPr>
          <a:xfrm>
            <a:off x="9235440" y="2103120"/>
            <a:ext cx="1600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6" name="Oval 25"/>
          <p:cNvSpPr/>
          <p:nvPr/>
        </p:nvSpPr>
        <p:spPr>
          <a:xfrm>
            <a:off x="9436608" y="230428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7" name="TextBox 26"/>
          <p:cNvSpPr txBox="1"/>
          <p:nvPr/>
        </p:nvSpPr>
        <p:spPr>
          <a:xfrm>
            <a:off x="9468612" y="2363724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8" y="2313432"/>
            <a:ext cx="621791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Report rows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4041648"/>
            <a:ext cx="841248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57400" y="4334256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AE6FD"/>
                </a:solidFill>
                <a:latin typeface="Aptos"/>
              </a:rPr>
              <a:t>project = KAN AND assignee WAS "accountId" ORDER BY updated DESC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440680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Aptos"/>
              </a:rPr>
              <a:t>Why it matters: reassigned tickets still count because Jira evaluates server-side assignment history.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dirty="0">
                <a:solidFill>
                  <a:srgbClr val="64748B"/>
                </a:solidFill>
                <a:latin typeface="Aptos"/>
              </a:rPr>
              <a:t>0</a:t>
            </a:r>
            <a:r>
              <a:rPr lang="en-US" sz="900" b="0" dirty="0">
                <a:solidFill>
                  <a:srgbClr val="64748B"/>
                </a:solidFill>
                <a:latin typeface="Aptos"/>
              </a:rPr>
              <a:t>4</a:t>
            </a:r>
            <a:endParaRPr sz="90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85800" y="6510528"/>
            <a:ext cx="98755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776C6-5A97-28BC-779B-FDEF2B017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9C53DE-9B3F-33F5-6C76-C85C25DEAC8E}"/>
              </a:ext>
            </a:extLst>
          </p:cNvPr>
          <p:cNvSpPr txBox="1"/>
          <p:nvPr/>
        </p:nvSpPr>
        <p:spPr>
          <a:xfrm>
            <a:off x="685800" y="676656"/>
            <a:ext cx="786384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ptos Display"/>
              </a:rPr>
              <a:t>Analytics</a:t>
            </a:r>
            <a:endParaRPr sz="3000" b="1" dirty="0">
              <a:solidFill>
                <a:srgbClr val="0F172A"/>
              </a:solidFill>
              <a:latin typeface="Aptos Displa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392911-EDE6-68B3-3031-BAA238468B58}"/>
              </a:ext>
            </a:extLst>
          </p:cNvPr>
          <p:cNvSpPr txBox="1"/>
          <p:nvPr/>
        </p:nvSpPr>
        <p:spPr>
          <a:xfrm>
            <a:off x="713232" y="1307592"/>
            <a:ext cx="85953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00" b="0" dirty="0">
                <a:solidFill>
                  <a:srgbClr val="475569"/>
                </a:solidFill>
                <a:latin typeface="Aptos"/>
              </a:rPr>
              <a:t>The smart, lazy overview</a:t>
            </a:r>
            <a:r>
              <a:rPr sz="1300" b="0" dirty="0">
                <a:solidFill>
                  <a:srgbClr val="475569"/>
                </a:solidFill>
                <a:latin typeface="Aptos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213EC8-624B-35F4-0FF5-AF5D857EC543}"/>
              </a:ext>
            </a:extLst>
          </p:cNvPr>
          <p:cNvSpPr txBox="1"/>
          <p:nvPr/>
        </p:nvSpPr>
        <p:spPr>
          <a:xfrm>
            <a:off x="11292840" y="6446520"/>
            <a:ext cx="41148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dirty="0">
                <a:solidFill>
                  <a:srgbClr val="64748B"/>
                </a:solidFill>
                <a:latin typeface="Aptos"/>
              </a:rPr>
              <a:t>0</a:t>
            </a:r>
            <a:r>
              <a:rPr lang="en-US" sz="900" b="0" dirty="0">
                <a:solidFill>
                  <a:srgbClr val="64748B"/>
                </a:solidFill>
                <a:latin typeface="Aptos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2943653-A15A-9F1B-49D6-2B6B750EE35F}"/>
              </a:ext>
            </a:extLst>
          </p:cNvPr>
          <p:cNvSpPr/>
          <p:nvPr/>
        </p:nvSpPr>
        <p:spPr>
          <a:xfrm>
            <a:off x="685800" y="6510528"/>
            <a:ext cx="98755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79DED18-89C6-D20C-BCD5-4C760D54A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04" y="1981625"/>
            <a:ext cx="10849091" cy="404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7863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 Display"/>
              </a:rPr>
              <a:t>Transparent AI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07592"/>
            <a:ext cx="8595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Natural language becomes auditable, scoped JQL.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32203" y="2350008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" name="Oval 5"/>
          <p:cNvSpPr/>
          <p:nvPr/>
        </p:nvSpPr>
        <p:spPr>
          <a:xfrm>
            <a:off x="1833371" y="2551176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" name="TextBox 6"/>
          <p:cNvSpPr txBox="1"/>
          <p:nvPr/>
        </p:nvSpPr>
        <p:spPr>
          <a:xfrm>
            <a:off x="1865375" y="2610612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2160" y="2655292"/>
            <a:ext cx="667511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Prompt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22675" y="2651760"/>
            <a:ext cx="237743" cy="219456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0" name="Rounded Rectangle 9"/>
          <p:cNvSpPr/>
          <p:nvPr/>
        </p:nvSpPr>
        <p:spPr>
          <a:xfrm>
            <a:off x="3433571" y="2350008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1" name="Oval 10"/>
          <p:cNvSpPr/>
          <p:nvPr/>
        </p:nvSpPr>
        <p:spPr>
          <a:xfrm>
            <a:off x="3634739" y="2551176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2" name="TextBox 11"/>
          <p:cNvSpPr txBox="1"/>
          <p:nvPr/>
        </p:nvSpPr>
        <p:spPr>
          <a:xfrm>
            <a:off x="3666743" y="2610612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2560320"/>
            <a:ext cx="848868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 err="1">
                <a:solidFill>
                  <a:srgbClr val="0F172A"/>
                </a:solidFill>
                <a:latin typeface="Aptos"/>
              </a:rPr>
              <a:t>Groq</a:t>
            </a:r>
            <a:r>
              <a:rPr sz="1050" b="1" dirty="0">
                <a:solidFill>
                  <a:srgbClr val="0F172A"/>
                </a:solidFill>
                <a:latin typeface="Aptos"/>
              </a:rPr>
              <a:t> JSON plan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24043" y="2651760"/>
            <a:ext cx="237743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5" name="Rounded Rectangle 14"/>
          <p:cNvSpPr/>
          <p:nvPr/>
        </p:nvSpPr>
        <p:spPr>
          <a:xfrm>
            <a:off x="5234939" y="2350008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 dirty="0"/>
          </a:p>
        </p:txBody>
      </p:sp>
      <p:sp>
        <p:nvSpPr>
          <p:cNvPr id="16" name="Oval 15"/>
          <p:cNvSpPr/>
          <p:nvPr/>
        </p:nvSpPr>
        <p:spPr>
          <a:xfrm>
            <a:off x="5436107" y="2551176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7" name="TextBox 16"/>
          <p:cNvSpPr txBox="1"/>
          <p:nvPr/>
        </p:nvSpPr>
        <p:spPr>
          <a:xfrm>
            <a:off x="5468111" y="2610612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725411" y="2651760"/>
            <a:ext cx="237743" cy="219456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0" name="Rounded Rectangle 19"/>
          <p:cNvSpPr/>
          <p:nvPr/>
        </p:nvSpPr>
        <p:spPr>
          <a:xfrm>
            <a:off x="7036307" y="2350008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1" name="Oval 20"/>
          <p:cNvSpPr/>
          <p:nvPr/>
        </p:nvSpPr>
        <p:spPr>
          <a:xfrm>
            <a:off x="7237475" y="2551176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2" name="TextBox 21"/>
          <p:cNvSpPr txBox="1"/>
          <p:nvPr/>
        </p:nvSpPr>
        <p:spPr>
          <a:xfrm>
            <a:off x="7269479" y="2610612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1877" y="2547158"/>
            <a:ext cx="699516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Enforce project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526779" y="2651760"/>
            <a:ext cx="237743" cy="21945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5" name="Rounded Rectangle 24"/>
          <p:cNvSpPr/>
          <p:nvPr/>
        </p:nvSpPr>
        <p:spPr>
          <a:xfrm>
            <a:off x="8837675" y="2350008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6" name="Oval 25"/>
          <p:cNvSpPr/>
          <p:nvPr/>
        </p:nvSpPr>
        <p:spPr>
          <a:xfrm>
            <a:off x="9038843" y="2551176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7" name="TextBox 26"/>
          <p:cNvSpPr txBox="1"/>
          <p:nvPr/>
        </p:nvSpPr>
        <p:spPr>
          <a:xfrm>
            <a:off x="9070847" y="2610612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4" y="2534692"/>
            <a:ext cx="70866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Resolve names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1471" y="2524298"/>
            <a:ext cx="740665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Execute JQL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3886200"/>
            <a:ext cx="2971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252728" y="408736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84731" y="4146804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1367" y="4096512"/>
            <a:ext cx="19933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Guardrail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1367" y="4427562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475569"/>
                </a:solidFill>
                <a:latin typeface="Aptos"/>
              </a:rPr>
              <a:t>Backend forces project scope before Jira execution.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3886200"/>
            <a:ext cx="2971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727448" y="4087368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9452" y="4146804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76088" y="4096512"/>
            <a:ext cx="199339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Guardrail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76088" y="4408901"/>
            <a:ext cx="19933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475569"/>
                </a:solidFill>
                <a:latin typeface="Aptos"/>
              </a:rPr>
              <a:t>Display names in user clauses are resolved to account IDs.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0" y="3886200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202168" y="408736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34172" y="4146804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50808" y="4096512"/>
            <a:ext cx="176479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Guardrail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50808" y="4409274"/>
            <a:ext cx="17647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475569"/>
                </a:solidFill>
                <a:latin typeface="Aptos"/>
              </a:rPr>
              <a:t>Executed JQL is shown to the user.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dirty="0">
                <a:solidFill>
                  <a:srgbClr val="64748B"/>
                </a:solidFill>
                <a:latin typeface="Aptos"/>
              </a:rPr>
              <a:t>0</a:t>
            </a:r>
            <a:r>
              <a:rPr lang="en-US" sz="900" dirty="0">
                <a:solidFill>
                  <a:srgbClr val="64748B"/>
                </a:solidFill>
                <a:latin typeface="Aptos"/>
              </a:rPr>
              <a:t>6</a:t>
            </a:r>
            <a:endParaRPr sz="90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85800" y="6510528"/>
            <a:ext cx="98755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7863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4988" y="1302366"/>
            <a:ext cx="8595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475569"/>
                </a:solidFill>
                <a:latin typeface="Aptos"/>
              </a:rPr>
              <a:t>Frontend experience, backend intelligence, external systems as source of truth.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7869" y="3089552"/>
            <a:ext cx="2057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" name="Oval 5"/>
          <p:cNvSpPr/>
          <p:nvPr/>
        </p:nvSpPr>
        <p:spPr>
          <a:xfrm>
            <a:off x="1109037" y="329072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" name="TextBox 6"/>
          <p:cNvSpPr txBox="1"/>
          <p:nvPr/>
        </p:nvSpPr>
        <p:spPr>
          <a:xfrm>
            <a:off x="1141041" y="3350156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1100" y="3171057"/>
            <a:ext cx="107899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React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0245" y="3413659"/>
            <a:ext cx="1078992" cy="5770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475569"/>
                </a:solidFill>
                <a:latin typeface="Aptos"/>
              </a:rPr>
              <a:t>Dashboard, tabs, AI panel, export trigger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74997" y="3437024"/>
            <a:ext cx="667512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1" name="Rounded Rectangle 10"/>
          <p:cNvSpPr/>
          <p:nvPr/>
        </p:nvSpPr>
        <p:spPr>
          <a:xfrm>
            <a:off x="3879668" y="2696360"/>
            <a:ext cx="22860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2" name="Oval 11"/>
          <p:cNvSpPr/>
          <p:nvPr/>
        </p:nvSpPr>
        <p:spPr>
          <a:xfrm>
            <a:off x="4080836" y="2897528"/>
            <a:ext cx="411480" cy="41148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3" name="TextBox 12"/>
          <p:cNvSpPr txBox="1"/>
          <p:nvPr/>
        </p:nvSpPr>
        <p:spPr>
          <a:xfrm>
            <a:off x="4078271" y="2992204"/>
            <a:ext cx="40746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477" y="2906672"/>
            <a:ext cx="1307591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FastAPI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477" y="3318152"/>
            <a:ext cx="1307591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Routers
Services
Clients
Pydantic schemas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302829" y="2540912"/>
            <a:ext cx="640080" cy="219456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7" name="Right Arrow 16"/>
          <p:cNvSpPr/>
          <p:nvPr/>
        </p:nvSpPr>
        <p:spPr>
          <a:xfrm>
            <a:off x="6302829" y="3455312"/>
            <a:ext cx="640080" cy="219456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8" name="Right Arrow 17"/>
          <p:cNvSpPr/>
          <p:nvPr/>
        </p:nvSpPr>
        <p:spPr>
          <a:xfrm>
            <a:off x="6302829" y="4369712"/>
            <a:ext cx="640080" cy="219456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9" name="Rounded Rectangle 18"/>
          <p:cNvSpPr/>
          <p:nvPr/>
        </p:nvSpPr>
        <p:spPr>
          <a:xfrm>
            <a:off x="7098357" y="2083712"/>
            <a:ext cx="2057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0" name="Oval 19"/>
          <p:cNvSpPr/>
          <p:nvPr/>
        </p:nvSpPr>
        <p:spPr>
          <a:xfrm>
            <a:off x="7299525" y="228488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1" name="TextBox 20"/>
          <p:cNvSpPr txBox="1"/>
          <p:nvPr/>
        </p:nvSpPr>
        <p:spPr>
          <a:xfrm>
            <a:off x="7331529" y="2344316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9585" y="2244229"/>
            <a:ext cx="130759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Confluence 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9585" y="2497120"/>
            <a:ext cx="130759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Team membership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98357" y="2998111"/>
            <a:ext cx="2057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5" name="Oval 24"/>
          <p:cNvSpPr/>
          <p:nvPr/>
        </p:nvSpPr>
        <p:spPr>
          <a:xfrm>
            <a:off x="7299525" y="319928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6" name="TextBox 25"/>
          <p:cNvSpPr txBox="1"/>
          <p:nvPr/>
        </p:nvSpPr>
        <p:spPr>
          <a:xfrm>
            <a:off x="7331529" y="3258716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9585" y="3103860"/>
            <a:ext cx="130759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Jira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9585" y="3347512"/>
            <a:ext cx="130759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475569"/>
                </a:solidFill>
                <a:latin typeface="Aptos"/>
              </a:rPr>
              <a:t>Issues + changelogs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98357" y="3912512"/>
            <a:ext cx="2057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0" name="Oval 29"/>
          <p:cNvSpPr/>
          <p:nvPr/>
        </p:nvSpPr>
        <p:spPr>
          <a:xfrm>
            <a:off x="7299525" y="411368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1" name="TextBox 30"/>
          <p:cNvSpPr txBox="1"/>
          <p:nvPr/>
        </p:nvSpPr>
        <p:spPr>
          <a:xfrm>
            <a:off x="7331529" y="4173116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9585" y="4006814"/>
            <a:ext cx="130759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 err="1">
                <a:solidFill>
                  <a:srgbClr val="0F172A"/>
                </a:solidFill>
                <a:latin typeface="Aptos"/>
              </a:rPr>
              <a:t>Groq</a:t>
            </a:r>
            <a:r>
              <a:rPr sz="1050" b="1" dirty="0">
                <a:solidFill>
                  <a:srgbClr val="0F172A"/>
                </a:solidFill>
                <a:latin typeface="Aptos"/>
              </a:rPr>
              <a:t>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9585" y="4242062"/>
            <a:ext cx="130759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475569"/>
                </a:solidFill>
                <a:latin typeface="Aptos"/>
              </a:rPr>
              <a:t>JSON query planning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3229" y="2998111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5" name="Oval 34"/>
          <p:cNvSpPr/>
          <p:nvPr/>
        </p:nvSpPr>
        <p:spPr>
          <a:xfrm>
            <a:off x="9704397" y="319928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6" name="TextBox 35"/>
          <p:cNvSpPr txBox="1"/>
          <p:nvPr/>
        </p:nvSpPr>
        <p:spPr>
          <a:xfrm>
            <a:off x="9736401" y="3258716"/>
            <a:ext cx="34747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840" y="3089552"/>
            <a:ext cx="941831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Excel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840" y="3309008"/>
            <a:ext cx="10510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475569"/>
                </a:solidFill>
                <a:latin typeface="Aptos"/>
              </a:rPr>
              <a:t>Downloadable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502920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Aptos Display"/>
              </a:rPr>
              <a:t>Security boundary: browser never receives Atlassian or Groq secrets.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dirty="0">
                <a:solidFill>
                  <a:srgbClr val="64748B"/>
                </a:solidFill>
                <a:latin typeface="Aptos"/>
              </a:rPr>
              <a:t>0</a:t>
            </a:r>
            <a:r>
              <a:rPr lang="en-US" sz="900" b="0" dirty="0">
                <a:solidFill>
                  <a:srgbClr val="64748B"/>
                </a:solidFill>
                <a:latin typeface="Aptos"/>
              </a:rPr>
              <a:t>7</a:t>
            </a:r>
            <a:endParaRPr sz="90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85800" y="6510528"/>
            <a:ext cx="98755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786384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ptos Display"/>
              </a:rPr>
              <a:t>Data Flow Diagram</a:t>
            </a:r>
            <a:endParaRPr sz="3000" b="1" dirty="0">
              <a:solidFill>
                <a:srgbClr val="0F172A"/>
              </a:solidFill>
              <a:latin typeface="Aptos Display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dirty="0">
                <a:solidFill>
                  <a:srgbClr val="64748B"/>
                </a:solidFill>
                <a:latin typeface="Aptos"/>
              </a:rPr>
              <a:t>0</a:t>
            </a:r>
            <a:r>
              <a:rPr lang="en-US" sz="900" b="0" dirty="0">
                <a:solidFill>
                  <a:srgbClr val="64748B"/>
                </a:solidFill>
                <a:latin typeface="Aptos"/>
              </a:rPr>
              <a:t>8</a:t>
            </a:r>
            <a:endParaRPr sz="90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85800" y="6510528"/>
            <a:ext cx="98755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A91C4100-B3BA-0CDB-45E7-1BDDAB4F6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74"/>
          <a:stretch>
            <a:fillRect/>
          </a:stretch>
        </p:blipFill>
        <p:spPr>
          <a:xfrm>
            <a:off x="821094" y="1290090"/>
            <a:ext cx="10471746" cy="51141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CODE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7863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0F172A"/>
                </a:solidFill>
                <a:latin typeface="Aptos Display"/>
              </a:rPr>
              <a:t>SOLID + Clean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07592"/>
            <a:ext cx="8595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Clear responsibilities are visible in the folder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2022" y="2187956"/>
            <a:ext cx="4214308" cy="991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122021" y="2187956"/>
            <a:ext cx="100641" cy="99185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50621" y="2398268"/>
            <a:ext cx="3585307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Aptos"/>
              </a:rPr>
              <a:t>SRP</a:t>
            </a:r>
            <a:endParaRPr sz="1500" b="1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50621" y="2672588"/>
            <a:ext cx="3585307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dirty="0">
                <a:solidFill>
                  <a:srgbClr val="475569"/>
                </a:solidFill>
                <a:latin typeface="Aptos"/>
              </a:rPr>
              <a:t>1 MODULE, 1 JOB</a:t>
            </a:r>
            <a:endParaRPr sz="1100" b="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50054" y="2162407"/>
            <a:ext cx="4214308" cy="991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50053" y="2162407"/>
            <a:ext cx="100641" cy="99185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8653" y="2372719"/>
            <a:ext cx="3585307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Aptos"/>
              </a:rPr>
              <a:t>OCP</a:t>
            </a:r>
            <a:endParaRPr sz="1500" b="1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8653" y="2647039"/>
            <a:ext cx="3585307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100" b="0" dirty="0">
                <a:latin typeface="Aptos"/>
              </a:rPr>
              <a:t>Extension </a:t>
            </a:r>
            <a:r>
              <a:rPr lang="en-US" sz="1100" dirty="0"/>
              <a:t>✔️ Modification ❌</a:t>
            </a:r>
            <a:endParaRPr sz="1100" b="0" dirty="0"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489049" y="3520324"/>
            <a:ext cx="4214308" cy="991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89048" y="3520324"/>
            <a:ext cx="100641" cy="99185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17648" y="3730636"/>
            <a:ext cx="3585307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Aptos"/>
              </a:rPr>
              <a:t>ISP</a:t>
            </a:r>
            <a:endParaRPr sz="1500" b="1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17648" y="4004956"/>
            <a:ext cx="3585307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0" dirty="0">
                <a:solidFill>
                  <a:srgbClr val="475569"/>
                </a:solidFill>
                <a:latin typeface="Aptos"/>
              </a:rPr>
              <a:t>Separate separate</a:t>
            </a:r>
            <a:endParaRPr sz="1100" b="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228689" y="3520324"/>
            <a:ext cx="4214308" cy="991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28688" y="3520324"/>
            <a:ext cx="100641" cy="99185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7288" y="3730636"/>
            <a:ext cx="3585307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Aptos"/>
              </a:rPr>
              <a:t>DIP</a:t>
            </a:r>
            <a:endParaRPr sz="1500" b="1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57288" y="4023243"/>
            <a:ext cx="3585307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0" dirty="0">
                <a:solidFill>
                  <a:srgbClr val="475569"/>
                </a:solidFill>
                <a:latin typeface="Aptos"/>
              </a:rPr>
              <a:t>Abstraction or injected dependencies</a:t>
            </a:r>
            <a:endParaRPr sz="1100" b="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272540" y="5310781"/>
            <a:ext cx="9646920" cy="7132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15440" y="5461657"/>
            <a:ext cx="8961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Tests validate the riskiest logic: team parsing, AI JQL scope, forward transitions, and assignee-at-transition reconstruction.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5727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Aptos"/>
              </a:rPr>
              <a:t>09</a:t>
            </a:r>
            <a:endParaRPr sz="90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85800" y="6510528"/>
            <a:ext cx="98755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7863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 Display"/>
              </a:rPr>
              <a:t>Scalability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07592"/>
            <a:ext cx="8595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From working MVP to enterprise reporting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9848" y="2212848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" y="2272284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2221992"/>
            <a:ext cx="16733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MVP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633472"/>
            <a:ext cx="16733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Jira + Confluence reports
Excel export
AI JQL search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57600" y="2788920"/>
            <a:ext cx="18288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023360" y="201168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24528" y="221284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6532" y="2272284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221992"/>
            <a:ext cx="167335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Version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633472"/>
            <a:ext cx="1673351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Multi-project analytics
Caching + background jobs
Scheduled delivery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12280" y="2788920"/>
            <a:ext cx="182879" cy="219456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178040" y="201168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79208" y="221284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11212" y="2272284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2221992"/>
            <a:ext cx="167335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2633472"/>
            <a:ext cx="1673351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SSO + RBAC
Audit logs
Marketplace/SaaS packaging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8348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Aptos"/>
              </a:rPr>
              <a:t>Scaling needs auth, persistence/caching, deployment, and richer analytics. The current layered architecture gives that path a solid starting point.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dirty="0">
                <a:solidFill>
                  <a:srgbClr val="64748B"/>
                </a:solidFill>
                <a:latin typeface="Aptos"/>
              </a:rPr>
              <a:t>1</a:t>
            </a:r>
            <a:r>
              <a:rPr lang="en-US" sz="900" b="0" dirty="0">
                <a:solidFill>
                  <a:srgbClr val="64748B"/>
                </a:solidFill>
                <a:latin typeface="Aptos"/>
              </a:rPr>
              <a:t>0</a:t>
            </a:r>
            <a:endParaRPr sz="90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5800" y="6510528"/>
            <a:ext cx="98755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25880"/>
            <a:ext cx="9692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 dirty="0">
                <a:solidFill>
                  <a:srgbClr val="FFFFFF"/>
                </a:solidFill>
                <a:latin typeface="Aptos Display"/>
              </a:rPr>
              <a:t>From scattered Jira history
to trusted engineering intelligence.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1546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BD5E1"/>
                </a:solidFill>
                <a:latin typeface="Aptos"/>
              </a:rPr>
              <a:t>Problem -&gt; Solution -&gt;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77639"/>
            <a:ext cx="28803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15568" y="4178807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" y="4238244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7" y="4187952"/>
            <a:ext cx="19019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7" y="4457139"/>
            <a:ext cx="1901952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Manual reporting misses historical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77639"/>
            <a:ext cx="28803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44568" y="4178807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6572" y="4238244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4187952"/>
            <a:ext cx="190195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4457139"/>
            <a:ext cx="1901951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Live Jira + Confluence reporting with AI guardrails.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977639"/>
            <a:ext cx="28803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973568" y="4178807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5572" y="4238244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4187952"/>
            <a:ext cx="190195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4457139"/>
            <a:ext cx="1901951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CBD5E1"/>
                </a:solidFill>
                <a:latin typeface="Aptos"/>
              </a:rPr>
              <a:t>Faster, fairer, exportable engineering visibility.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897880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4A3B8"/>
                </a:solidFill>
                <a:latin typeface="Aptos"/>
              </a:rPr>
              <a:t>Takeaway: turn collaboration systems into decision systems.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dirty="0">
                <a:solidFill>
                  <a:srgbClr val="64748B"/>
                </a:solidFill>
                <a:latin typeface="Aptos"/>
              </a:rPr>
              <a:t>1</a:t>
            </a:r>
            <a:r>
              <a:rPr lang="en-US" sz="900" b="0" dirty="0">
                <a:solidFill>
                  <a:srgbClr val="64748B"/>
                </a:solidFill>
                <a:latin typeface="Aptos"/>
              </a:rPr>
              <a:t>1</a:t>
            </a:r>
            <a:endParaRPr sz="90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" y="6510528"/>
            <a:ext cx="98755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611</Words>
  <Application>Microsoft Macintosh PowerPoint</Application>
  <PresentationFormat>Widescreen</PresentationFormat>
  <Paragraphs>161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Arpita Priya</cp:lastModifiedBy>
  <cp:revision>7</cp:revision>
  <dcterms:created xsi:type="dcterms:W3CDTF">2013-01-27T09:14:16Z</dcterms:created>
  <dcterms:modified xsi:type="dcterms:W3CDTF">2026-07-07T10:46:15Z</dcterms:modified>
  <cp:category/>
</cp:coreProperties>
</file>